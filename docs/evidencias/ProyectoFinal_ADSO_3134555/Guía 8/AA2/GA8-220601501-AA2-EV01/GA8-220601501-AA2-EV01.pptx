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2" autoAdjust="0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228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Guía de Aprendizaje 8: la evidencia GA8-220601501-AA2-EV01 solicita una presentación sobre estrategias para la prevención y control de impactos ambientales, accidentes y enfermedades laborales, con estructura de título, cuerpo y conclusión y extensión de 10 a 15 diapositivas.
- Ley 1562 de 2012 (Colombia).
- Decreto 1072 de 2015 (Colombia).
- ISO 14001:2015.
- ISO 45001:2018.
- Organización Internacional del Trabajo (OIT).
- Fuentes temáticas complementarias: Ministerio del Trabajo, Ministerio de Ambiente y Desarrollo Sostenible y 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Guía de Aprendizaje 8: la evidencia GA8-220601501-AA2-EV01 solicita una presentación sobre estrategias para la prevención y control de impactos ambientales, accidentes y enfermedades laborales, con estructura de título, cuerpo y conclusión y extensión de 10 a 15 diapositivas.
- Ley 1562 de 2012 (Colombia).
- Decreto 1072 de 2015 (Colombia).
- ISO 14001:2015.
- ISO 45001:2018.
- Organización Internacional del Trabajo (OIT).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Guía de Aprendizaje 8: la evidencia GA8-220601501-AA2-EV01 solicita una presentación sobre estrategias para la prevención y control de impactos ambientales, accidentes y enfermedades laborales, con estructura de título, cuerpo y conclusión y extensión de 10 a 15 diapositivas.
- Ley 1562 de 2012 (Colombia).
- Decreto 1072 de 2015 (Colombia).
- ISO 14001:2015.
- ISO 45001:2018.
- Organización Internacional del Trabajo (OIT).
- Soporte conceptual en OIT, ISO 45001:2018 e ISO 14001:2015.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Guía de Aprendizaje 8: la evidencia GA8-220601501-AA2-EV01 solicita una presentación sobre estrategias para la prevención y control de impactos ambientales, accidentes y enfermedades laborales, con estructura de título, cuerpo y conclusión y extensión de 10 a 15 diapositivas.
- Ley 1562 de 2012 (Colombia).
- Decreto 1072 de 2015 (Colombia).
- ISO 14001:2015.
- ISO 45001:2018.
- Organización Internacional del Trabajo (OIT).
- Apoyo en ISO 14001:2015 y lineamientos de gestión ambiental empresarial.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Guía de Aprendizaje 8: la evidencia GA8-220601501-AA2-EV01 solicita una presentación sobre estrategias para la prevención y control de impactos ambientales, accidentes y enfermedades laborales, con estructura de título, cuerpo y conclusión y extensión de 10 a 15 diapositivas.
- Ley 1562 de 2012 (Colombia).
- Decreto 1072 de 2015 (Colombia).
- ISO 14001:2015.
- ISO 45001:2018.
- Organización Internacional del Trabajo (OIT).
- Apoyo en ISO 45001:2018, Decreto 1072 de 2015 y buenas prácticas de control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Guía de Aprendizaje 8: la evidencia GA8-220601501-AA2-EV01 solicita una presentación sobre estrategias para la prevención y control de impactos ambientales, accidentes y enfermedades laborales, con estructura de título, cuerpo y conclusión y extensión de 10 a 15 diapositivas.
- Ley 1562 de 2012 (Colombia).
- Decreto 1072 de 2015 (Colombia).
- ISO 14001:2015.
- ISO 45001:2018.
- Organización Internacional del Trabajo (OIT).
- Apoyo en ISO 45001:2018, OIT y enfoque preventivo de SST.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Guía de Aprendizaje 8: la evidencia GA8-220601501-AA2-EV01 solicita una presentación sobre estrategias para la prevención y control de impactos ambientales, accidentes y enfermedades laborales, con estructura de título, cuerpo y conclusión y extensión de 10 a 15 diapositivas.
- Ley 1562 de 2012 (Colombia).
- Decreto 1072 de 2015 (Colombia).
- ISO 14001:2015.
- ISO 45001:2018.
- Organización Internacional del Trabajo (OIT).
- Fuentes principales: Ley 1562 de 2012, Decreto 1072 de 2015, ISO 14001:2015 e ISO 45001:2018.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Guía de Aprendizaje 8: la evidencia GA8-220601501-AA2-EV01 solicita una presentación sobre estrategias para la prevención y control de impactos ambientales, accidentes y enfermedades laborales, con estructura de título, cuerpo y conclusión y extensión de 10 a 15 diapositivas.
- Ley 1562 de 2012 (Colombia).
- Decreto 1072 de 2015 (Colombia).
- ISO 14001:2015.
- ISO 45001:2018.
- Organización Internacional del Trabajo (OIT).
- Apoyo en gestión por indicadores, PHVA y seguimiento SG-SST/ambiental.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Guía de Aprendizaje 8: la evidencia GA8-220601501-AA2-EV01 solicita una presentación sobre estrategias para la prevención y control de impactos ambientales, accidentes y enfermedades laborales, con estructura de título, cuerpo y conclusión y extensión de 10 a 15 diapositivas.
- Ley 1562 de 2012 (Colombia).
- Decreto 1072 de 2015 (Colombia).
- ISO 14001:2015.
- ISO 45001:2018.
- Organización Internacional del Trabajo (OIT).
- Apoyo en OIT, ISO 14001 e ISO 45001 sobre seguimiento, desempeño y mejora.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Guía de Aprendizaje 8: la evidencia GA8-220601501-AA2-EV01 solicita una presentación sobre estrategias para la prevención y control de impactos ambientales, accidentes y enfermedades laborales, con estructura de título, cuerpo y conclusión y extensión de 10 a 15 diapositivas.
- Ley 1562 de 2012 (Colombia).
- Decreto 1072 de 2015 (Colombia).
- ISO 14001:2015.
- ISO 45001:2018.
- Organización Internacional del Trabajo (OIT).
- La guía enfatiza trabajo colaborativo, coordinado y aplicación de planes y programas ambientales y SST.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Guía de Aprendizaje 8: la evidencia GA8-220601501-AA2-EV01 solicita una presentación sobre estrategias para la prevención y control de impactos ambientales, accidentes y enfermedades laborales, con estructura de título, cuerpo y conclusión y extensión de 10 a 15 diapositivas.
- Ley 1562 de 2012 (Colombia).
- Decreto 1072 de 2015 (Colombia).
- ISO 14001:2015.
- ISO 45001:2018.
- Organización Internacional del Trabajo (OIT).
- Conclusiones construidas a partir de la guía, OIT, ISO 14001 e ISO 45001.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Guía de Aprendizaje 8: la evidencia GA8-220601501-AA2-EV01 solicita una presentación sobre estrategias para la prevención y control de impactos ambientales, accidentes y enfermedades laborales, con estructura de título, cuerpo y conclusión y extensión de 10 a 15 diapositivas.
- Ley 1562 de 2012 (Colombia).
- Decreto 1072 de 2015 (Colombia).
- ISO 14001:2015.
- ISO 45001:2018.
- Organización Internacional del Trabajo (OIT).
- Slide de referencias.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93759" y="0"/>
            <a:ext cx="5425135" cy="6858000"/>
          </a:xfrm>
          <a:prstGeom prst="rect">
            <a:avLst/>
          </a:prstGeom>
          <a:solidFill>
            <a:srgbClr val="13314A"/>
          </a:solidFill>
          <a:ln w="12700">
            <a:solidFill>
              <a:srgbClr val="1331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49240"/>
            <a:ext cx="6766560" cy="1508760"/>
          </a:xfrm>
          <a:prstGeom prst="rect">
            <a:avLst/>
          </a:prstGeom>
          <a:solidFill>
            <a:srgbClr val="0B1C2A"/>
          </a:solidFill>
          <a:ln w="12700">
            <a:solidFill>
              <a:srgbClr val="0B1C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43800" y="190951"/>
            <a:ext cx="3657600" cy="3657600"/>
          </a:xfrm>
          <a:prstGeom prst="arc">
            <a:avLst/>
          </a:prstGeom>
          <a:solidFill>
            <a:srgbClr val="13314A">
              <a:alpha val="0"/>
            </a:srgbClr>
          </a:solidFill>
          <a:ln w="12700">
            <a:solidFill>
              <a:srgbClr val="D39B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0" y="607810"/>
            <a:ext cx="2743200" cy="2743200"/>
          </a:xfrm>
          <a:prstGeom prst="arc">
            <a:avLst/>
          </a:prstGeom>
          <a:solidFill>
            <a:srgbClr val="13314A">
              <a:alpha val="0"/>
            </a:srgbClr>
          </a:solidFill>
          <a:ln w="12700">
            <a:solidFill>
              <a:srgbClr val="1F8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0" y="3457147"/>
            <a:ext cx="4114800" cy="0"/>
          </a:xfrm>
          <a:prstGeom prst="line">
            <a:avLst/>
          </a:prstGeom>
          <a:noFill/>
          <a:ln w="12700">
            <a:solidFill>
              <a:srgbClr val="6FBDB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85800" y="960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F8A82"/>
          </a:solidFill>
          <a:ln w="12700">
            <a:solidFill>
              <a:srgbClr val="1F8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98448" y="960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11096" y="960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39B2C"/>
          </a:solidFill>
          <a:ln w="12700">
            <a:solidFill>
              <a:srgbClr val="D39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73736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Estrategias para la prevención y control de los impactos ambientales, accidentes y enfermedades laborales (ATEL)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D073AF2-8495-4859-A362-8C16D334AEE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993140" y="1255955"/>
            <a:ext cx="1216119" cy="115697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F3A3275A-DCD6-4179-8969-B438C69D2380}"/>
              </a:ext>
            </a:extLst>
          </p:cNvPr>
          <p:cNvSpPr txBox="1"/>
          <p:nvPr/>
        </p:nvSpPr>
        <p:spPr>
          <a:xfrm>
            <a:off x="6630368" y="3462521"/>
            <a:ext cx="5740549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550" b="1" dirty="0">
                <a:solidFill>
                  <a:srgbClr val="D7E5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Servicio Nacional de Aprendizaje – SENA</a:t>
            </a:r>
          </a:p>
          <a:p>
            <a:pPr algn="ctr"/>
            <a:endParaRPr lang="es-CO" sz="1550" dirty="0">
              <a:solidFill>
                <a:srgbClr val="D7E5F0"/>
              </a:solidFill>
              <a:latin typeface="Times New Roman" panose="02020603050405020304" pitchFamily="18" charset="0"/>
              <a:ea typeface="Aptos" pitchFamily="34" charset="-122"/>
              <a:cs typeface="Times New Roman" panose="02020603050405020304" pitchFamily="18" charset="0"/>
            </a:endParaRPr>
          </a:p>
          <a:p>
            <a:pPr algn="ctr"/>
            <a:endParaRPr lang="es-CO" sz="1550" dirty="0">
              <a:solidFill>
                <a:srgbClr val="D7E5F0"/>
              </a:solidFill>
              <a:latin typeface="Times New Roman" panose="02020603050405020304" pitchFamily="18" charset="0"/>
              <a:ea typeface="Aptos" pitchFamily="34" charset="-122"/>
              <a:cs typeface="Times New Roman" panose="02020603050405020304" pitchFamily="18" charset="0"/>
            </a:endParaRPr>
          </a:p>
          <a:p>
            <a:pPr algn="ctr"/>
            <a:endParaRPr lang="es-CO" sz="1550" dirty="0">
              <a:solidFill>
                <a:srgbClr val="D7E5F0"/>
              </a:solidFill>
              <a:latin typeface="Times New Roman" panose="02020603050405020304" pitchFamily="18" charset="0"/>
              <a:ea typeface="Aptos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s-MX" sz="1550" dirty="0">
                <a:solidFill>
                  <a:srgbClr val="D7E5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Tecnólogo en Análisis y Desarrollo de Software</a:t>
            </a:r>
          </a:p>
          <a:p>
            <a:pPr algn="ctr"/>
            <a:r>
              <a:rPr lang="es-MX" sz="1550" dirty="0">
                <a:solidFill>
                  <a:srgbClr val="D7E5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Ficha: 3134555</a:t>
            </a:r>
          </a:p>
          <a:p>
            <a:pPr algn="ctr"/>
            <a:endParaRPr lang="es-CO" dirty="0"/>
          </a:p>
          <a:p>
            <a:pPr algn="ctr"/>
            <a:endParaRPr lang="es-CO" dirty="0"/>
          </a:p>
          <a:p>
            <a:pPr algn="ctr"/>
            <a:r>
              <a:rPr lang="es-MX" b="1" dirty="0">
                <a:solidFill>
                  <a:srgbClr val="D7E5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</a:t>
            </a:r>
            <a:r>
              <a:rPr lang="es-MX" sz="1800" b="1" dirty="0">
                <a:solidFill>
                  <a:srgbClr val="D7E5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resentación sobre las estrategias para la prevención y control de los impactos ambientales, accidentes y enfermedades laborales (ATEL)</a:t>
            </a:r>
          </a:p>
          <a:p>
            <a:pPr algn="ctr"/>
            <a:r>
              <a:rPr lang="es-MX" b="1" dirty="0">
                <a:solidFill>
                  <a:srgbClr val="D7E5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(</a:t>
            </a:r>
            <a:r>
              <a:rPr lang="en-US" sz="1800" b="1" dirty="0">
                <a:solidFill>
                  <a:srgbClr val="D7E5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GA8-220601501-AA2-EV01)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CO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35FDFA4-A14F-4164-B248-3CACC0686E32}"/>
              </a:ext>
            </a:extLst>
          </p:cNvPr>
          <p:cNvSpPr txBox="1"/>
          <p:nvPr/>
        </p:nvSpPr>
        <p:spPr>
          <a:xfrm>
            <a:off x="1367028" y="5711874"/>
            <a:ext cx="4160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rgbClr val="D7E5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APRENDIZ</a:t>
            </a:r>
          </a:p>
          <a:p>
            <a:pPr algn="ctr"/>
            <a:r>
              <a:rPr lang="es-CO" dirty="0">
                <a:solidFill>
                  <a:srgbClr val="D7E5F0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Johan Mauricio Sánchez Gaviria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538"/>
          </a:solidFill>
          <a:ln w="12700">
            <a:solidFill>
              <a:srgbClr val="0F25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384048"/>
            <a:ext cx="341071" cy="6473952"/>
          </a:xfrm>
          <a:prstGeom prst="rect">
            <a:avLst/>
          </a:prstGeom>
          <a:solidFill>
            <a:srgbClr val="1F8A82"/>
          </a:solidFill>
          <a:ln w="12700">
            <a:solidFill>
              <a:srgbClr val="1F8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86384"/>
            <a:ext cx="11064240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75488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3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Propósito y alcance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1133856"/>
            <a:ext cx="3749040" cy="4864608"/>
          </a:xfrm>
          <a:prstGeom prst="roundRect">
            <a:avLst>
              <a:gd name="adj" fmla="val 1951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1298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82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Objetivo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41248" y="1700784"/>
            <a:ext cx="3383280" cy="4151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Analizar estrategias preventivas y de control que reduzcan impactos ambientales, accidentes de trabajo y enfermedades laborales, con un enfoque aplicable al contexto de oficinas, áreas administrativas, tecnología y desarrollo de software.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53712" y="1133856"/>
            <a:ext cx="3200400" cy="4864608"/>
          </a:xfrm>
          <a:prstGeom prst="roundRect">
            <a:avLst>
              <a:gd name="adj" fmla="val 2286"/>
            </a:avLst>
          </a:prstGeom>
          <a:solidFill>
            <a:srgbClr val="FBF3E1"/>
          </a:solidFill>
          <a:ln w="12700">
            <a:solidFill>
              <a:srgbClr val="FBF3E1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36592" y="12984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39B2C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Enfoque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36592" y="1700784"/>
            <a:ext cx="2834640" cy="4151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La prevención se trabaja desde la identificación de peligros, evaluación de riesgos, control operacional, capacitación, seguimiento y mejora continua. La gestión ambiental y la SST se abordan de forma articulada.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882128" y="1133856"/>
            <a:ext cx="3611880" cy="4864608"/>
          </a:xfrm>
          <a:prstGeom prst="roundRect">
            <a:avLst>
              <a:gd name="adj" fmla="val 2025"/>
            </a:avLst>
          </a:prstGeom>
          <a:solidFill>
            <a:srgbClr val="EDF7F1"/>
          </a:solidFill>
          <a:ln w="12700">
            <a:solidFill>
              <a:srgbClr val="EDF7F1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65008" y="1298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5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Resultado esperado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065008" y="1700784"/>
            <a:ext cx="3246120" cy="4151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Menor ocurrencia de incidentes, reducción de desperdicios, mejores condiciones ergonómicas, mayor cultura de autocuidado y cumplimiento de políticas organizacionales y normatividad vigente.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2DA7B5E-B4A7-43C8-8076-B86334A47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72031"/>
            <a:ext cx="3753612" cy="230537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4BBF322-917B-4350-9B68-2CBFC4283F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84" r="1695"/>
          <a:stretch/>
        </p:blipFill>
        <p:spPr>
          <a:xfrm>
            <a:off x="4558284" y="3607577"/>
            <a:ext cx="3195828" cy="210312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F7C61C4E-9148-4CAE-8509-764A63B0E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3566160"/>
            <a:ext cx="3611880" cy="22577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65175"/>
          </a:xfrm>
          <a:prstGeom prst="rect">
            <a:avLst/>
          </a:prstGeom>
          <a:solidFill>
            <a:srgbClr val="0F2538"/>
          </a:solidFill>
          <a:ln w="12700">
            <a:solidFill>
              <a:srgbClr val="0F25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384048"/>
            <a:ext cx="341071" cy="6473952"/>
          </a:xfrm>
          <a:prstGeom prst="rect">
            <a:avLst/>
          </a:prstGeom>
          <a:solidFill>
            <a:srgbClr val="1F8A82"/>
          </a:solidFill>
          <a:ln w="12700">
            <a:solidFill>
              <a:srgbClr val="1F8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86384"/>
            <a:ext cx="11064240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75488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3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Panorama de impactos y riesgos en un entorno de software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6583680" cy="2066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>
              <a:buSzPct val="100000"/>
            </a:pPr>
            <a:r>
              <a:rPr lang="en-US" sz="1650" b="1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Impactos ambientales: </a:t>
            </a:r>
            <a:r>
              <a:rPr lang="en-US" sz="16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consumo de energía por equipos, uso de papel e insumos, generación de residuos electrónicos y prácticas de disposición inadecuadas.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</a:pPr>
            <a:r>
              <a:rPr lang="en-US" sz="1650" b="1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Accidentes laborales: </a:t>
            </a:r>
            <a:r>
              <a:rPr lang="en-US" sz="16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tropiezos por cableado, contactos eléctricos, caídas al mismo nivel, golpes menores, sobrecarga de tomas y emergencias locativas.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</a:pPr>
            <a:r>
              <a:rPr lang="en-US" sz="1650" b="1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Enfermedades laborales: </a:t>
            </a:r>
            <a:r>
              <a:rPr lang="en-US" sz="16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fatiga visual, dolor cervical y lumbar, trastornos musculoesqueléticos, estrés, sedentarismo y afectaciones psicosociales.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3291840" cy="42519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blurRad="1905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9244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53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Categorías críticas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83880" y="2240280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EDF7F1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24323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5B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Ambiental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83880" y="3200400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FBF3E1"/>
          </a:solidFill>
          <a:ln w="12700">
            <a:solidFill>
              <a:srgbClr val="D39B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33924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9B2C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Accidentes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83880" y="4160520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E8F5F3"/>
          </a:solidFill>
          <a:ln w="12700">
            <a:solidFill>
              <a:srgbClr val="1F8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43525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8A82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Enfermedades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092440" y="5204552"/>
            <a:ext cx="2651760" cy="172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1606D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La prevención eficaz integra ambiente, seguridad y salud como un solo sistema de gestión.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505A9F16-FF2A-4B9C-95E7-7A6B3A250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147" y="3319272"/>
            <a:ext cx="6420746" cy="331516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89318715-C2AE-4716-AC06-822DCA1ECC4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15036" y="5090795"/>
            <a:ext cx="1216119" cy="11569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560475FA-F455-4825-9AA8-4790325765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rcRect t="5441"/>
          <a:stretch/>
        </p:blipFill>
        <p:spPr>
          <a:xfrm>
            <a:off x="15761" y="265176"/>
            <a:ext cx="12175934" cy="6592824"/>
          </a:xfrm>
          <a:prstGeom prst="rect">
            <a:avLst/>
          </a:prstGeom>
        </p:spPr>
      </p:pic>
      <p:sp>
        <p:nvSpPr>
          <p:cNvPr id="23" name="Shape 14">
            <a:extLst>
              <a:ext uri="{FF2B5EF4-FFF2-40B4-BE49-F238E27FC236}">
                <a16:creationId xmlns:a16="http://schemas.microsoft.com/office/drawing/2014/main" id="{B0863B75-4A67-4527-95A1-2789BEB3945E}"/>
              </a:ext>
            </a:extLst>
          </p:cNvPr>
          <p:cNvSpPr/>
          <p:nvPr/>
        </p:nvSpPr>
        <p:spPr>
          <a:xfrm>
            <a:off x="658368" y="412559"/>
            <a:ext cx="10744200" cy="514572"/>
          </a:xfrm>
          <a:prstGeom prst="roundRect">
            <a:avLst>
              <a:gd name="adj" fmla="val 2254"/>
            </a:avLst>
          </a:prstGeom>
          <a:solidFill>
            <a:srgbClr val="FBF3E1"/>
          </a:solidFill>
          <a:ln w="12700">
            <a:solidFill>
              <a:srgbClr val="FBF3E1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0" y="0"/>
            <a:ext cx="12191695" cy="265175"/>
          </a:xfrm>
          <a:prstGeom prst="rect">
            <a:avLst/>
          </a:prstGeom>
          <a:solidFill>
            <a:srgbClr val="0F2538"/>
          </a:solidFill>
          <a:ln w="12700">
            <a:solidFill>
              <a:srgbClr val="0F25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384048"/>
            <a:ext cx="341071" cy="6473952"/>
          </a:xfrm>
          <a:prstGeom prst="rect">
            <a:avLst/>
          </a:prstGeom>
          <a:solidFill>
            <a:srgbClr val="1F8A82"/>
          </a:solidFill>
          <a:ln w="12700">
            <a:solidFill>
              <a:srgbClr val="1F8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86384"/>
            <a:ext cx="11064240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261" y="475488"/>
            <a:ext cx="87545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3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Estrategias para la prevención y control de impactos ambientales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1188720"/>
            <a:ext cx="3383280" cy="4663440"/>
          </a:xfrm>
          <a:prstGeom prst="roundRect">
            <a:avLst>
              <a:gd name="adj" fmla="val 2162"/>
            </a:avLst>
          </a:prstGeom>
          <a:solidFill>
            <a:srgbClr val="EDF7F1"/>
          </a:solidFill>
          <a:ln w="12700">
            <a:solidFill>
              <a:srgbClr val="EDF7F1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1353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5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Líneas de acción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41248" y="1755648"/>
            <a:ext cx="3017520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77824" y="1755648"/>
            <a:ext cx="278892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Uso eficiente de energía: apagado seguro, suspensión automática y mantenimiento de equipos.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Digitalización y reducción del papel: formularios, firmas y documentación electrónica.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Gestión integral de residuos: clasificación, almacenamiento temporal y disposición autorizada de RAEE.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Compras sostenibles y control de insumos: periféricos, baterías, tóner y empaques.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Sensibilización ambiental y seguimiento mediante indicadores mensuales.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97680" y="1202167"/>
            <a:ext cx="3611880" cy="4663440"/>
          </a:xfrm>
          <a:prstGeom prst="roundRect">
            <a:avLst>
              <a:gd name="adj" fmla="val 2025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0560" y="1353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82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Controles operativos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80560" y="1755648"/>
            <a:ext cx="3246120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35424" y="1755648"/>
            <a:ext cx="28346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Inventario de equipos con estado, consumo y ciclo de vida.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Puntos de recolección para pilas, cables y dispositivos en desuso.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Buenas prácticas de impresión y uso responsable de climatización e iluminación.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Protocolos para limpieza y derrames menores de insumos.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56448" y="1188720"/>
            <a:ext cx="3246120" cy="4663440"/>
          </a:xfrm>
          <a:prstGeom prst="roundRect">
            <a:avLst>
              <a:gd name="adj" fmla="val 2254"/>
            </a:avLst>
          </a:prstGeom>
          <a:solidFill>
            <a:srgbClr val="FBF3E1"/>
          </a:solidFill>
          <a:ln w="12700">
            <a:solidFill>
              <a:srgbClr val="FBF3E1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9328" y="13533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39B2C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Indicadores sugeridos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39328" y="1755648"/>
            <a:ext cx="2880360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75904" y="1755648"/>
            <a:ext cx="246888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kWh por mes.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Consumo de papel.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Cantidad de RAEE gestionados.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Campañas ejecutadas.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Hallazgos ambientales corregidos.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538"/>
          </a:solidFill>
          <a:ln w="12700">
            <a:solidFill>
              <a:srgbClr val="0F25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384048"/>
            <a:ext cx="341071" cy="6473952"/>
          </a:xfrm>
          <a:prstGeom prst="rect">
            <a:avLst/>
          </a:prstGeom>
          <a:solidFill>
            <a:srgbClr val="1F8A82"/>
          </a:solidFill>
          <a:ln w="12700">
            <a:solidFill>
              <a:srgbClr val="1F8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86384"/>
            <a:ext cx="11064240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75488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3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Estrategias para la prevención de accidentes de trabajo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13232" y="1508760"/>
            <a:ext cx="2487168" cy="3611880"/>
          </a:xfrm>
          <a:prstGeom prst="roundRect">
            <a:avLst>
              <a:gd name="adj" fmla="val 2941"/>
            </a:avLst>
          </a:prstGeom>
          <a:solidFill>
            <a:srgbClr val="FBF3E1"/>
          </a:solidFill>
          <a:ln w="12700">
            <a:solidFill>
              <a:srgbClr val="D39B2C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7824" y="1719072"/>
            <a:ext cx="457200" cy="457200"/>
          </a:xfrm>
          <a:prstGeom prst="ellipse">
            <a:avLst/>
          </a:prstGeom>
          <a:solidFill>
            <a:srgbClr val="D39B2C"/>
          </a:solidFill>
          <a:ln w="12700">
            <a:solidFill>
              <a:srgbClr val="D39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6719" y="1905179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77824" y="23317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9B2C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Orden y limpieza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77824" y="2907792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Cableado canalizado, puestos despejados y rutas de evacuación libres.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547872" y="1508760"/>
            <a:ext cx="2487168" cy="3611880"/>
          </a:xfrm>
          <a:prstGeom prst="roundRect">
            <a:avLst>
              <a:gd name="adj" fmla="val 2941"/>
            </a:avLst>
          </a:prstGeom>
          <a:solidFill>
            <a:srgbClr val="E8F5F3"/>
          </a:solidFill>
          <a:ln w="12700">
            <a:solidFill>
              <a:srgbClr val="1F8A82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12464" y="1719072"/>
            <a:ext cx="457200" cy="457200"/>
          </a:xfrm>
          <a:prstGeom prst="ellipse">
            <a:avLst/>
          </a:prstGeom>
          <a:solidFill>
            <a:srgbClr val="1F8A82"/>
          </a:solidFill>
          <a:ln w="12700">
            <a:solidFill>
              <a:srgbClr val="1F8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94806" y="1891732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12464" y="23317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8A82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Seguridad eléctrica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712464" y="2907792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Revisión de tomas, extensiones, UPS, multitomas y protección contra sobrecarga.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82512" y="1508760"/>
            <a:ext cx="2487168" cy="3611880"/>
          </a:xfrm>
          <a:prstGeom prst="roundRect">
            <a:avLst>
              <a:gd name="adj" fmla="val 2941"/>
            </a:avLst>
          </a:prstGeom>
          <a:solidFill>
            <a:srgbClr val="EDF7F1"/>
          </a:solidFill>
          <a:ln w="12700">
            <a:solidFill>
              <a:srgbClr val="2E7D5B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47104" y="1719072"/>
            <a:ext cx="457200" cy="4572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2552" y="1837944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47104" y="23317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5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Emergencias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47104" y="2907792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Señalización, brigada, extintores, reporte oportuno y simulacros.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217152" y="1508760"/>
            <a:ext cx="2487168" cy="3611880"/>
          </a:xfrm>
          <a:prstGeom prst="roundRect">
            <a:avLst>
              <a:gd name="adj" fmla="val 2941"/>
            </a:avLst>
          </a:prstGeom>
          <a:solidFill>
            <a:srgbClr val="F1F4F8"/>
          </a:solidFill>
          <a:ln w="12700">
            <a:solidFill>
              <a:srgbClr val="0F2538"/>
            </a:solidFill>
            <a:prstDash val="solid"/>
          </a:ln>
          <a:effectLst>
            <a:outerShdw blurRad="1651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81744" y="1719072"/>
            <a:ext cx="457200" cy="457200"/>
          </a:xfrm>
          <a:prstGeom prst="ellipse">
            <a:avLst/>
          </a:prstGeom>
          <a:solidFill>
            <a:srgbClr val="0F2538"/>
          </a:solidFill>
          <a:ln w="12700">
            <a:solidFill>
              <a:srgbClr val="0F25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37192" y="1837944"/>
            <a:ext cx="137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381744" y="23317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53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Inspecciones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381744" y="2907792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Listas de chequeo y cierre de hallazgos con responsable y fecha.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22960" y="56235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F2538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Principio central: eliminar condiciones inseguras antes de que se conviertan en incidentes o accidentes.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3"/>
          </a:xfrm>
          <a:prstGeom prst="rect">
            <a:avLst/>
          </a:prstGeom>
          <a:solidFill>
            <a:srgbClr val="0F2538"/>
          </a:solidFill>
          <a:ln w="12700">
            <a:solidFill>
              <a:srgbClr val="0F25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384048"/>
            <a:ext cx="341071" cy="6473952"/>
          </a:xfrm>
          <a:prstGeom prst="rect">
            <a:avLst/>
          </a:prstGeom>
          <a:solidFill>
            <a:srgbClr val="1F8A82"/>
          </a:solidFill>
          <a:ln w="12700">
            <a:solidFill>
              <a:srgbClr val="1F8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86384"/>
            <a:ext cx="11064240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75488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3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Estrategias para la prevención de enfermedades laborales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1216152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138074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82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Factores a intervenir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41248" y="1783080"/>
            <a:ext cx="5074920" cy="3995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355080" y="1216152"/>
            <a:ext cx="5120640" cy="4709160"/>
          </a:xfrm>
          <a:prstGeom prst="roundRect">
            <a:avLst>
              <a:gd name="adj" fmla="val 1553"/>
            </a:avLst>
          </a:prstGeom>
          <a:solidFill>
            <a:srgbClr val="EDF7F1"/>
          </a:solidFill>
          <a:ln w="12700">
            <a:solidFill>
              <a:srgbClr val="EDF7F1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13807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5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Medidas preventivas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96112" y="1828801"/>
            <a:ext cx="4572000" cy="19901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Ergonomía del puesto: silla, monitor, teclado, mouse y ubicación de accesorios.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Riesgo biomecánico por posturas prolongadas, movimientos repetitivos y sedentarismo.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Fatiga visual por iluminación inadecuada, brillo y tiempos prolongados frente a pantalla.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ct val="100000"/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Carga mental y factores psicosociales: presión de tiempo, multitarea y desconexión insuficiente.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37960" y="1783080"/>
            <a:ext cx="4754880" cy="3995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01968" y="1828800"/>
            <a:ext cx="4389120" cy="3657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Pausas activas programadas y regla 20-20-20 para la vista.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Rotación de tareas y ajuste de tiempos de exposición.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Capacitación en higiene postural y autocuidado.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Seguimiento a síntomas, remisión oportuna y vigilancia epidemiológica cuando aplique.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Promoción de hábitos saludables: hidratación, actividad física y descanso adecuado.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538"/>
          </a:solidFill>
          <a:ln w="12700">
            <a:solidFill>
              <a:srgbClr val="0F25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384048"/>
            <a:ext cx="341071" cy="6473952"/>
          </a:xfrm>
          <a:prstGeom prst="rect">
            <a:avLst/>
          </a:prstGeom>
          <a:solidFill>
            <a:srgbClr val="1F8A82"/>
          </a:solidFill>
          <a:ln w="12700">
            <a:solidFill>
              <a:srgbClr val="1F8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86384"/>
            <a:ext cx="11064240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75488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3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Marco normativo y jerarquía de control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1280160"/>
            <a:ext cx="46634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blurRad="1524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53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Referentes clave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6112" y="2057400"/>
            <a:ext cx="393192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Ley 1562 de 2012: modifica el sistema de riesgos laborales en Colombia.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Decreto 1072 de 2015: marco reglamentario del SG-SST.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ISO 14001: gestión ambiental.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ISO 45001: seguridad y salud en el trabajo.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Políticas internas, procedimientos y programas de la organización.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0" y="1280160"/>
            <a:ext cx="56235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E1E8"/>
            </a:solidFill>
            <a:prstDash val="solid"/>
          </a:ln>
          <a:effectLst>
            <a:outerShdw blurRad="1524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25312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53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Jerarquía de control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89320" y="2057400"/>
            <a:ext cx="4937760" cy="438912"/>
          </a:xfrm>
          <a:prstGeom prst="roundRect">
            <a:avLst>
              <a:gd name="adj" fmla="val 10417"/>
            </a:avLst>
          </a:prstGeom>
          <a:solidFill>
            <a:srgbClr val="C9493F"/>
          </a:solidFill>
          <a:ln w="12700">
            <a:solidFill>
              <a:srgbClr val="C949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21671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Eliminar · Suprimir la fuente del riesgo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89320" y="2697480"/>
            <a:ext cx="4937760" cy="438912"/>
          </a:xfrm>
          <a:prstGeom prst="roundRect">
            <a:avLst>
              <a:gd name="adj" fmla="val 10417"/>
            </a:avLst>
          </a:prstGeom>
          <a:solidFill>
            <a:srgbClr val="D39B2C"/>
          </a:solidFill>
          <a:ln w="12700">
            <a:solidFill>
              <a:srgbClr val="D39B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28072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Sustituir · Cambiar materiales, equipos o métodos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89320" y="3337560"/>
            <a:ext cx="4937760" cy="438912"/>
          </a:xfrm>
          <a:prstGeom prst="roundRect">
            <a:avLst>
              <a:gd name="adj" fmla="val 10417"/>
            </a:avLst>
          </a:prstGeom>
          <a:solidFill>
            <a:srgbClr val="1F8A82"/>
          </a:solidFill>
          <a:ln w="12700">
            <a:solidFill>
              <a:srgbClr val="1F8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344728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Ingeniería · Barreras físicas y rediseño del entorno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89320" y="3977640"/>
            <a:ext cx="4937760" cy="438912"/>
          </a:xfrm>
          <a:prstGeom prst="roundRect">
            <a:avLst>
              <a:gd name="adj" fmla="val 10417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4127709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Administrativo · Procedimientos, capacitación, señalización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89320" y="4617720"/>
            <a:ext cx="4937760" cy="438912"/>
          </a:xfrm>
          <a:prstGeom prst="roundRect">
            <a:avLst>
              <a:gd name="adj" fmla="val 10417"/>
            </a:avLst>
          </a:prstGeom>
          <a:solidFill>
            <a:srgbClr val="51606D"/>
          </a:solidFill>
          <a:ln w="12700">
            <a:solidFill>
              <a:srgbClr val="5160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472744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EPP · Elemento complementario, no principal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538"/>
          </a:solidFill>
          <a:ln w="12700">
            <a:solidFill>
              <a:srgbClr val="0F25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384048"/>
            <a:ext cx="341071" cy="6473952"/>
          </a:xfrm>
          <a:prstGeom prst="rect">
            <a:avLst/>
          </a:prstGeom>
          <a:solidFill>
            <a:srgbClr val="1F8A82"/>
          </a:solidFill>
          <a:ln w="12700">
            <a:solidFill>
              <a:srgbClr val="1F8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86384"/>
            <a:ext cx="11064240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75488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3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Plan de implementación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1325880" cy="713232"/>
          </a:xfrm>
          <a:prstGeom prst="rect">
            <a:avLst/>
          </a:prstGeom>
          <a:solidFill>
            <a:srgbClr val="0F25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6002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Línea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984248" y="1417320"/>
            <a:ext cx="4251960" cy="713232"/>
          </a:xfrm>
          <a:prstGeom prst="rect">
            <a:avLst/>
          </a:prstGeom>
          <a:solidFill>
            <a:srgbClr val="0F25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160020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Acción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36208" y="1417320"/>
            <a:ext cx="2057400" cy="713232"/>
          </a:xfrm>
          <a:prstGeom prst="rect">
            <a:avLst/>
          </a:prstGeom>
          <a:solidFill>
            <a:srgbClr val="0F25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16002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Responsable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93608" y="1417320"/>
            <a:ext cx="3429000" cy="713232"/>
          </a:xfrm>
          <a:prstGeom prst="rect">
            <a:avLst/>
          </a:prstGeom>
          <a:solidFill>
            <a:srgbClr val="0F25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60020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Indicador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8368" y="2130552"/>
            <a:ext cx="1325880" cy="713232"/>
          </a:xfrm>
          <a:prstGeom prst="rect">
            <a:avLst/>
          </a:prstGeom>
          <a:solidFill>
            <a:srgbClr val="F9FBFC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240280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Ambiental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984248" y="2130552"/>
            <a:ext cx="4251960" cy="713232"/>
          </a:xfrm>
          <a:prstGeom prst="rect">
            <a:avLst/>
          </a:prstGeom>
          <a:solidFill>
            <a:srgbClr val="F9FBFC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39112" y="224028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Campaña de ahorro energético y gestión de RAEE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36208" y="2130552"/>
            <a:ext cx="2057400" cy="713232"/>
          </a:xfrm>
          <a:prstGeom prst="rect">
            <a:avLst/>
          </a:prstGeom>
          <a:solidFill>
            <a:srgbClr val="F9FBFC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224028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Líder TI / Ambiental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93608" y="2130552"/>
            <a:ext cx="3429000" cy="713232"/>
          </a:xfrm>
          <a:prstGeom prst="rect">
            <a:avLst/>
          </a:prstGeom>
          <a:solidFill>
            <a:srgbClr val="F9FBFC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48472" y="224028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kWh, papel y residuos gestionados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8368" y="2843784"/>
            <a:ext cx="1325880" cy="713232"/>
          </a:xfrm>
          <a:prstGeom prst="rect">
            <a:avLst/>
          </a:prstGeom>
          <a:solidFill>
            <a:srgbClr val="EEF4F7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2953512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Accidentes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984248" y="2843784"/>
            <a:ext cx="4251960" cy="713232"/>
          </a:xfrm>
          <a:prstGeom prst="rect">
            <a:avLst/>
          </a:prstGeom>
          <a:solidFill>
            <a:srgbClr val="EEF4F7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39112" y="2953512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Inspección locativa y eléctrica mensual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36208" y="2843784"/>
            <a:ext cx="2057400" cy="713232"/>
          </a:xfrm>
          <a:prstGeom prst="rect">
            <a:avLst/>
          </a:prstGeom>
          <a:solidFill>
            <a:srgbClr val="EEF4F7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2953512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Mantenimiento / SST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293608" y="2843784"/>
            <a:ext cx="3429000" cy="713232"/>
          </a:xfrm>
          <a:prstGeom prst="rect">
            <a:avLst/>
          </a:prstGeom>
          <a:solidFill>
            <a:srgbClr val="EEF4F7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48472" y="2953512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# hallazgos cerrados y # incidentes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8368" y="3557016"/>
            <a:ext cx="1325880" cy="713232"/>
          </a:xfrm>
          <a:prstGeom prst="rect">
            <a:avLst/>
          </a:prstGeom>
          <a:solidFill>
            <a:srgbClr val="F9FBFC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3666744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Enfermedades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984248" y="3557016"/>
            <a:ext cx="4251960" cy="713232"/>
          </a:xfrm>
          <a:prstGeom prst="rect">
            <a:avLst/>
          </a:prstGeom>
          <a:solidFill>
            <a:srgbClr val="F9FBFC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39112" y="3666744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Ergonomía, pausas activas y seguimiento visual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236208" y="3557016"/>
            <a:ext cx="2057400" cy="713232"/>
          </a:xfrm>
          <a:prstGeom prst="rect">
            <a:avLst/>
          </a:prstGeom>
          <a:solidFill>
            <a:srgbClr val="F9FBFC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3666744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SST / Talento humano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293608" y="3557016"/>
            <a:ext cx="3429000" cy="713232"/>
          </a:xfrm>
          <a:prstGeom prst="rect">
            <a:avLst/>
          </a:prstGeom>
          <a:solidFill>
            <a:srgbClr val="F9FBFC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48472" y="3666744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Síntomas reportados y participación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58368" y="4270248"/>
            <a:ext cx="1325880" cy="713232"/>
          </a:xfrm>
          <a:prstGeom prst="rect">
            <a:avLst/>
          </a:prstGeom>
          <a:solidFill>
            <a:srgbClr val="EEF4F7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379976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Cultura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984248" y="4270248"/>
            <a:ext cx="4251960" cy="713232"/>
          </a:xfrm>
          <a:prstGeom prst="rect">
            <a:avLst/>
          </a:prstGeom>
          <a:solidFill>
            <a:srgbClr val="EEF4F7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39112" y="4379976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Capacitación y reporte oportuno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36208" y="4270248"/>
            <a:ext cx="2057400" cy="713232"/>
          </a:xfrm>
          <a:prstGeom prst="rect">
            <a:avLst/>
          </a:prstGeom>
          <a:solidFill>
            <a:srgbClr val="EEF4F7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4379976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Todos los colaboradores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293608" y="4270248"/>
            <a:ext cx="3429000" cy="713232"/>
          </a:xfrm>
          <a:prstGeom prst="rect">
            <a:avLst/>
          </a:prstGeom>
          <a:solidFill>
            <a:srgbClr val="EEF4F7"/>
          </a:solidFill>
          <a:ln w="12700">
            <a:solidFill>
              <a:srgbClr val="D7E1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48472" y="4379976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% asistencia y % reportes atendidos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F2538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La implementación debe seguir responsables, fechas, recursos y verificación periódica para asegurar mejora continua.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538"/>
          </a:solidFill>
          <a:ln w="12700">
            <a:solidFill>
              <a:srgbClr val="0F25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384048"/>
            <a:ext cx="341071" cy="6473952"/>
          </a:xfrm>
          <a:prstGeom prst="rect">
            <a:avLst/>
          </a:prstGeom>
          <a:solidFill>
            <a:srgbClr val="1F8A82"/>
          </a:solidFill>
          <a:ln w="12700">
            <a:solidFill>
              <a:srgbClr val="1F8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86384"/>
            <a:ext cx="11064240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45920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EDF7F1"/>
          </a:solidFill>
          <a:ln w="12700">
            <a:solidFill>
              <a:srgbClr val="2E7D5B"/>
            </a:solidFill>
            <a:prstDash val="solid"/>
          </a:ln>
          <a:effectLst>
            <a:outerShdw blurRad="1524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87552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Indicadores ambientales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2514600"/>
            <a:ext cx="2606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Consumo energético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Consumo de papel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RAEE gestionados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Cumplimiento de campañas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26280" y="1645920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FBF3E1"/>
          </a:solidFill>
          <a:ln w="12700">
            <a:solidFill>
              <a:srgbClr val="D39B2C"/>
            </a:solidFill>
            <a:prstDash val="solid"/>
          </a:ln>
          <a:effectLst>
            <a:outerShdw blurRad="1524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90872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39B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Indicadores de seguridad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90872" y="2514600"/>
            <a:ext cx="2606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Incidentes reportados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 cerrados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Inspecciones ejecutadas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 de respuesta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1645920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E8F5F3"/>
          </a:solidFill>
          <a:ln w="12700">
            <a:solidFill>
              <a:srgbClr val="1F8A82"/>
            </a:solidFill>
            <a:prstDash val="solid"/>
          </a:ln>
          <a:effectLst>
            <a:outerShdw blurRad="1524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94192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8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Indicadores de salud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94192" y="2514600"/>
            <a:ext cx="2606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Participación en pausas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Síntomas ergonómicos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Ausentismo asociado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Percepción de carga laboral</a:t>
            </a:r>
            <a:endParaRPr lang="en-US" sz="170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E3973D85-8BA9-4904-8D64-8BB9E9454917}"/>
              </a:ext>
            </a:extLst>
          </p:cNvPr>
          <p:cNvSpPr/>
          <p:nvPr/>
        </p:nvSpPr>
        <p:spPr>
          <a:xfrm>
            <a:off x="502920" y="772937"/>
            <a:ext cx="11064240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D1747796-934F-41F7-82F9-CD8EA2FA22DF}"/>
              </a:ext>
            </a:extLst>
          </p:cNvPr>
          <p:cNvSpPr/>
          <p:nvPr/>
        </p:nvSpPr>
        <p:spPr>
          <a:xfrm>
            <a:off x="598932" y="580913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3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Indicadores y cultura preventiva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383450FF-941A-4F0D-8AEE-BF671039FCB8}"/>
              </a:ext>
            </a:extLst>
          </p:cNvPr>
          <p:cNvSpPr/>
          <p:nvPr/>
        </p:nvSpPr>
        <p:spPr>
          <a:xfrm>
            <a:off x="822960" y="1632473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EDF7F1"/>
          </a:solidFill>
          <a:ln w="12700">
            <a:solidFill>
              <a:srgbClr val="2E7D5B"/>
            </a:solidFill>
            <a:prstDash val="solid"/>
          </a:ln>
          <a:effectLst>
            <a:outerShdw blurRad="1524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F86E12C9-231A-4447-B1B4-413B296D39EF}"/>
              </a:ext>
            </a:extLst>
          </p:cNvPr>
          <p:cNvSpPr/>
          <p:nvPr/>
        </p:nvSpPr>
        <p:spPr>
          <a:xfrm>
            <a:off x="987552" y="1861073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5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Indicadores ambientales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7801D87F-22AD-492D-8A5A-5CE051F006B0}"/>
              </a:ext>
            </a:extLst>
          </p:cNvPr>
          <p:cNvSpPr/>
          <p:nvPr/>
        </p:nvSpPr>
        <p:spPr>
          <a:xfrm>
            <a:off x="987552" y="2501153"/>
            <a:ext cx="2606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Consumo energético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Consumo de papel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RAEE gestionados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Cumplimiento de campañas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71D2D818-A1BE-4376-9613-BFFCA0575CF6}"/>
              </a:ext>
            </a:extLst>
          </p:cNvPr>
          <p:cNvSpPr/>
          <p:nvPr/>
        </p:nvSpPr>
        <p:spPr>
          <a:xfrm>
            <a:off x="4526280" y="1632473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FBF3E1"/>
          </a:solidFill>
          <a:ln w="12700">
            <a:solidFill>
              <a:srgbClr val="D39B2C"/>
            </a:solidFill>
            <a:prstDash val="solid"/>
          </a:ln>
          <a:effectLst>
            <a:outerShdw blurRad="1524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AF8AD139-63AE-4F0D-AFF8-0BC53BC3D757}"/>
              </a:ext>
            </a:extLst>
          </p:cNvPr>
          <p:cNvSpPr/>
          <p:nvPr/>
        </p:nvSpPr>
        <p:spPr>
          <a:xfrm>
            <a:off x="4690872" y="1861073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39B2C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Indicadores de seguridad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503DEDED-9F16-445D-91AC-7F58CA5A56C0}"/>
              </a:ext>
            </a:extLst>
          </p:cNvPr>
          <p:cNvSpPr/>
          <p:nvPr/>
        </p:nvSpPr>
        <p:spPr>
          <a:xfrm>
            <a:off x="4690872" y="2501153"/>
            <a:ext cx="2606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Incidentes reportados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Hallazgos cerrados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Inspecciones ejecutadas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Tiempo de respuesta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D2E1C9E4-5F9A-43FA-B720-881097291B0C}"/>
              </a:ext>
            </a:extLst>
          </p:cNvPr>
          <p:cNvSpPr/>
          <p:nvPr/>
        </p:nvSpPr>
        <p:spPr>
          <a:xfrm>
            <a:off x="8229600" y="1632473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E8F5F3"/>
          </a:solidFill>
          <a:ln w="12700">
            <a:solidFill>
              <a:srgbClr val="1F8A82"/>
            </a:solidFill>
            <a:prstDash val="solid"/>
          </a:ln>
          <a:effectLst>
            <a:outerShdw blurRad="1524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8D0DAFC2-3BE8-40D7-921F-BE597D71359E}"/>
              </a:ext>
            </a:extLst>
          </p:cNvPr>
          <p:cNvSpPr/>
          <p:nvPr/>
        </p:nvSpPr>
        <p:spPr>
          <a:xfrm>
            <a:off x="8394192" y="1861073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82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Indicadores de salud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524DE517-540F-4B79-807D-5C13D305C7FB}"/>
              </a:ext>
            </a:extLst>
          </p:cNvPr>
          <p:cNvSpPr/>
          <p:nvPr/>
        </p:nvSpPr>
        <p:spPr>
          <a:xfrm>
            <a:off x="8394192" y="2501153"/>
            <a:ext cx="2606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Participación en pausas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Síntomas ergonómicos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Ausentismo asociado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Percepción de carga laboral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B66BD60C-96CC-41CE-9C17-3D9DF383A215}"/>
              </a:ext>
            </a:extLst>
          </p:cNvPr>
          <p:cNvSpPr/>
          <p:nvPr/>
        </p:nvSpPr>
        <p:spPr>
          <a:xfrm>
            <a:off x="914400" y="55697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F2538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La cultura preventiva mejora cuando los controles se acompañan de liderazgo, ejemplo, comunicación y seguimiento.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538"/>
          </a:solidFill>
          <a:ln w="12700">
            <a:solidFill>
              <a:srgbClr val="0F25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384048"/>
            <a:ext cx="341071" cy="6473952"/>
          </a:xfrm>
          <a:prstGeom prst="rect">
            <a:avLst/>
          </a:prstGeom>
          <a:solidFill>
            <a:srgbClr val="1F8A82"/>
          </a:solidFill>
          <a:ln w="12700">
            <a:solidFill>
              <a:srgbClr val="1F8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86384"/>
            <a:ext cx="11064240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75488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3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Acciones colaborativas en el equipo de trabajo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1234440"/>
            <a:ext cx="3337560" cy="4297680"/>
          </a:xfrm>
          <a:prstGeom prst="roundRect">
            <a:avLst>
              <a:gd name="adj" fmla="val 2192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13990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82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Líderes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41248" y="1801368"/>
            <a:ext cx="2971800" cy="3584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96112" y="1828800"/>
            <a:ext cx="256032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Asignan recursos.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Definen prioridades.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Verifican cumplimiento.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Promueven reporte sin represalias.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07408" y="1234440"/>
            <a:ext cx="3337560" cy="4297680"/>
          </a:xfrm>
          <a:prstGeom prst="roundRect">
            <a:avLst>
              <a:gd name="adj" fmla="val 2192"/>
            </a:avLst>
          </a:prstGeom>
          <a:solidFill>
            <a:srgbClr val="EDF7F1"/>
          </a:solidFill>
          <a:ln w="12700">
            <a:solidFill>
              <a:srgbClr val="EDF7F1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90288" y="13990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5B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Colaboradores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90288" y="1801368"/>
            <a:ext cx="2971800" cy="3584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45152" y="1828800"/>
            <a:ext cx="256032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Cumplen procedimientos.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Reportan condiciones inseguras.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Participan en pausas, capacitación y campañas.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Cuidan equipos y recursos.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56448" y="1234440"/>
            <a:ext cx="3063240" cy="4297680"/>
          </a:xfrm>
          <a:prstGeom prst="roundRect">
            <a:avLst>
              <a:gd name="adj" fmla="val 2388"/>
            </a:avLst>
          </a:prstGeom>
          <a:solidFill>
            <a:srgbClr val="FBF3E1"/>
          </a:solidFill>
          <a:ln w="12700">
            <a:solidFill>
              <a:srgbClr val="FBF3E1"/>
            </a:solidFill>
            <a:prstDash val="solid"/>
          </a:ln>
          <a:effectLst>
            <a:outerShdw blurRad="1905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9328" y="13990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39B2C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SST / Ambiental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39328" y="1801368"/>
            <a:ext cx="2697480" cy="3584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94192" y="1828800"/>
            <a:ext cx="224028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Inspeccionan.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Capacitan.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Hacen seguimiento a indicadores.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Proponen mejora continua.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8680" y="5705856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0F2538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La coordinación entre actores convierte la prevención en una práctica diaria y no en una tarea aislada.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538"/>
          </a:solidFill>
          <a:ln w="12700">
            <a:solidFill>
              <a:srgbClr val="0F25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384048"/>
            <a:ext cx="341071" cy="6473952"/>
          </a:xfrm>
          <a:prstGeom prst="rect">
            <a:avLst/>
          </a:prstGeom>
          <a:solidFill>
            <a:srgbClr val="1F8A82"/>
          </a:solidFill>
          <a:ln w="12700">
            <a:solidFill>
              <a:srgbClr val="1F8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86384"/>
            <a:ext cx="11064240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67730" y="480329"/>
            <a:ext cx="19726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53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Conclusiones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41248" y="1417320"/>
            <a:ext cx="10287000" cy="1554480"/>
          </a:xfrm>
          <a:prstGeom prst="roundRect">
            <a:avLst>
              <a:gd name="adj" fmla="val 4706"/>
            </a:avLst>
          </a:prstGeom>
          <a:solidFill>
            <a:srgbClr val="0F2538"/>
          </a:solidFill>
          <a:ln w="12700">
            <a:solidFill>
              <a:srgbClr val="0F25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810512"/>
            <a:ext cx="9646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Prevenir y controlar ATEL significa anticiparse, intervenir y mejorar continuamente para proteger a las personas, asegurar la operación y reducir impactos sobre el entorno.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" y="3749040"/>
            <a:ext cx="94183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La gestión ambiental y la SST deben integrarse a la cultura organizacional y al trabajo diario.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Los accidentes y enfermedades laborales se reducen con controles técnicos, administrativos y hábitos de autocuidado.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El seguimiento con indicadores y acciones correctivas permite sostener resultados en el tiempo.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538"/>
          </a:solidFill>
          <a:ln w="12700">
            <a:solidFill>
              <a:srgbClr val="0F25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384048"/>
            <a:ext cx="341071" cy="6473952"/>
          </a:xfrm>
          <a:prstGeom prst="rect">
            <a:avLst/>
          </a:prstGeom>
          <a:solidFill>
            <a:srgbClr val="1F8A82"/>
          </a:solidFill>
          <a:ln w="12700">
            <a:solidFill>
              <a:srgbClr val="1F8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86384"/>
            <a:ext cx="11064240" cy="0"/>
          </a:xfrm>
          <a:prstGeom prst="line">
            <a:avLst/>
          </a:prstGeom>
          <a:noFill/>
          <a:ln w="12700">
            <a:solidFill>
              <a:srgbClr val="D7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03907" y="434071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2538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Referencias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417320"/>
            <a:ext cx="1024128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Congreso de Colombia. (2012). Ley 1562 de 2012.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Ministerio del Trabajo. (2015). Decreto 1072 de 2015.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International Organization for Standardization. (2015). ISO 14001:2015.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International Organization for Standardization. (2018). ISO 45001:2018.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Organización Internacional del Trabajo. (2023). Seguridad y salud en el trabajo.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Ministerio de Ambiente y Desarrollo Sostenible. (s. f.). Gestión ambiental empresarial.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42F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Guía de Aprendizaje 8 del programa ADSO, evidencia GA8-220601501-AA2-EV01.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2353</Words>
  <Application>Microsoft Office PowerPoint</Application>
  <PresentationFormat>Panorámica</PresentationFormat>
  <Paragraphs>194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Estrategias para la prevención y control de los impactos ambientales, accidentes y enfermedades laborales (ATEL)</dc:title>
  <dc:subject>GA8-220601501-AA2-EV01</dc:subject>
  <dc:creator>OpenAI</dc:creator>
  <cp:lastModifiedBy>JENIFFER ANDREA  MURCIA SANCHEZ</cp:lastModifiedBy>
  <cp:revision>9</cp:revision>
  <dcterms:created xsi:type="dcterms:W3CDTF">2026-04-16T21:08:48Z</dcterms:created>
  <dcterms:modified xsi:type="dcterms:W3CDTF">2026-04-16T22:44:06Z</dcterms:modified>
</cp:coreProperties>
</file>